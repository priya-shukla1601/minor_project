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C6C1"/>
    <a:srgbClr val="F52D06"/>
    <a:srgbClr val="F09B0A"/>
    <a:srgbClr val="7EC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9" d="100"/>
          <a:sy n="59" d="100"/>
        </p:scale>
        <p:origin x="9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314FB-3B77-35D8-156D-D0F170F80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6E826-37B8-96F8-1E99-39E046977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8E665-8A19-C639-4DA5-E7B670AC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4E336-C58E-6095-0A4C-012CC35A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0CF3D-8971-9930-E7D1-8A21DA78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082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D469-F59E-FF1A-F8F6-678DB9E8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0844-2F0E-440E-C85F-60F33F3D6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223F6-7E75-CF56-5653-80203335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A9087-F08E-167A-A1D2-E66E32C1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CC215-0E9B-4A76-0BDA-24EF2298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50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D403-310C-1020-0985-1E5F93A8A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98B4F-7B3E-CFF6-752E-C0CEF3424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23853-7A10-686A-C79E-FE11F0718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4118-5B09-CA0A-F1BF-353A5ACF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EDAB5-2264-764D-554E-6BD8244E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360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0A3E-C55B-644F-B910-4CC3E5616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47D5-8477-BFAF-1D41-A3184E2CE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70711-36BA-79DE-8FB8-C0DD8958F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EACE2-D5DD-9D02-C958-A98AC445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B65C3-2746-3FF1-35D0-080AA6918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4A6BE-858C-F0EB-B461-2733E767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38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6233-0497-D92F-7218-54F197809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1EF8D-5F69-6539-17DD-3608D89CE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28CA2-E9AA-AF77-F4EF-8D55FE838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8FED8-7022-32C6-2D3A-EE6BA70C7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CD3EE2-9107-C310-14C2-B57A11E11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513963-8792-FB08-6AC6-EFF0FBBE3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EA713-02E9-348D-B3F6-CA2F1E0F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B5173-0DE1-12DE-6237-E7A72499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55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6363E-B541-A275-DBC2-E4613FA9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68543-338A-D9E3-70CA-C9551378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CDB7F-2850-A490-B1EE-642C97D1C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8DFE7-B68E-4DD5-1C8A-9B47A835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78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C6FA2-E5D7-FE32-8A78-C581FAD3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30280-3BC6-0127-AEED-E1A5BD41F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8452B-519D-7032-28CC-DC27C9D2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904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2D3A-19E2-C8C4-B63A-49F48AC4F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440F8-EF7F-770F-52D3-C79090F1E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71B1A-37F4-79C8-8688-9EB21C130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2551D-47A9-A0FD-3905-CCCF7519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C7545-DD9E-7BF5-9F1E-21C5078E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0095E-B32C-D3E6-4EA1-F72ED1AF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21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281A4-319E-2846-EBC5-1E1D3C31C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8E7ECE-E014-CF40-BC51-D6A862D9A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2AE4D-D2AE-4A71-A316-5B7405663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E55C2-F91B-AC3B-C6CD-8152BE27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D4345-9CC0-B319-9E4A-43FEF12F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5C36C-9936-0DF0-86C4-8D70CFC3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24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8F194-16F3-D04F-5E16-5FC4F828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20923-5F7C-8842-6731-1E6371585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DF755-DC9A-2AFF-3ACB-2DA04145B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09915-C28E-8BC6-E453-A558DC94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89915-0DFA-1DB0-DAF8-29A3CC1B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227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29A51-87BA-2576-FD4F-27A3E5769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CA19A-A84C-EB55-F451-E26B4AE30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2AAB9-7471-D2FA-6A33-41058F86C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8A123-59E3-3A99-17DB-A230B48E9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172AC-B783-A3C6-EDA7-A4E7BCD6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41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0BAC6-CC29-7E33-BA2B-2E4A8257D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150C8-7BC2-F286-A371-D83D0834D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4350A-7A85-354E-A511-1686A17AC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9CF06-C771-467D-9677-646B3E26400A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5A747-18B9-117D-E610-48D82D06F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4ECB4-F88C-4563-AF3B-977BEE330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FA326-66EB-4938-B475-F49C1426F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381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This may contain: the letter q is made up of two green letters, one in the shape of an o and the other in the shape of a rectangle">
            <a:extLst>
              <a:ext uri="{FF2B5EF4-FFF2-40B4-BE49-F238E27FC236}">
                <a16:creationId xmlns:a16="http://schemas.microsoft.com/office/drawing/2014/main" id="{C60B0911-741E-55F1-5491-82C60386C0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8315" y1="37260" x2="59511" y2="41644"/>
                        <a14:foregroundMark x1="59511" y1="41644" x2="59239" y2="65753"/>
                        <a14:foregroundMark x1="59239" y1="65753" x2="39674" y2="44658"/>
                        <a14:foregroundMark x1="39674" y1="44658" x2="63179" y2="49452"/>
                        <a14:foregroundMark x1="63179" y1="49452" x2="62636" y2="74658"/>
                        <a14:foregroundMark x1="35190" y1="37260" x2="56658" y2="72740"/>
                        <a14:foregroundMark x1="31386" y1="42055" x2="55163" y2="80411"/>
                        <a14:foregroundMark x1="55163" y1="69178" x2="68342" y2="59452"/>
                        <a14:foregroundMark x1="68342" y1="59452" x2="73098" y2="37808"/>
                        <a14:foregroundMark x1="64130" y1="71507" x2="72011" y2="58356"/>
                        <a14:foregroundMark x1="72011" y1="58356" x2="73370" y2="406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21061" r="18289" b="18583"/>
          <a:stretch>
            <a:fillRect/>
          </a:stretch>
        </p:blipFill>
        <p:spPr bwMode="auto">
          <a:xfrm rot="451591" flipH="1">
            <a:off x="4305177" y="1307672"/>
            <a:ext cx="3919688" cy="438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521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B4C43A-257E-5D9E-9925-D6D7720C2A52}"/>
              </a:ext>
            </a:extLst>
          </p:cNvPr>
          <p:cNvSpPr/>
          <p:nvPr/>
        </p:nvSpPr>
        <p:spPr>
          <a:xfrm>
            <a:off x="0" y="6539796"/>
            <a:ext cx="12192000" cy="369332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ECEDF-5A91-D1E1-FAC8-ED5EA767E2FC}"/>
              </a:ext>
            </a:extLst>
          </p:cNvPr>
          <p:cNvSpPr txBox="1"/>
          <p:nvPr/>
        </p:nvSpPr>
        <p:spPr>
          <a:xfrm>
            <a:off x="314070" y="6011642"/>
            <a:ext cx="4102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n-IN" sz="2400" b="0" i="0" dirty="0">
                <a:solidFill>
                  <a:srgbClr val="333333"/>
                </a:solidFill>
                <a:effectLst/>
                <a:latin typeface="Google Sans Flex"/>
              </a:rPr>
              <a:t>TEAM : 26E2022 - </a:t>
            </a:r>
            <a:r>
              <a:rPr lang="en-IN" sz="2400" b="0" i="0" dirty="0" err="1">
                <a:solidFill>
                  <a:srgbClr val="333333"/>
                </a:solidFill>
                <a:effectLst/>
                <a:latin typeface="Google Sans Flex"/>
              </a:rPr>
              <a:t>J_Coders</a:t>
            </a:r>
            <a:endParaRPr lang="en-IN" sz="2400" b="0" i="0" dirty="0">
              <a:solidFill>
                <a:srgbClr val="333333"/>
              </a:solidFill>
              <a:effectLst/>
              <a:latin typeface="Google Sans Flex"/>
            </a:endParaRPr>
          </a:p>
        </p:txBody>
      </p:sp>
      <p:pic>
        <p:nvPicPr>
          <p:cNvPr id="1026" name="Picture 2" descr="This may contain: two footprints made out of grass with the words carbon and footprint">
            <a:extLst>
              <a:ext uri="{FF2B5EF4-FFF2-40B4-BE49-F238E27FC236}">
                <a16:creationId xmlns:a16="http://schemas.microsoft.com/office/drawing/2014/main" id="{51F3BC1B-E8AE-B634-AEED-574156944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4928" l="9783" r="89946">
                        <a14:foregroundMark x1="21467" y1="54348" x2="42527" y2="61111"/>
                        <a14:foregroundMark x1="42527" y1="61111" x2="56522" y2="78261"/>
                        <a14:foregroundMark x1="56522" y1="78261" x2="18342" y2="75845"/>
                        <a14:foregroundMark x1="18342" y1="75845" x2="29212" y2="44928"/>
                        <a14:foregroundMark x1="29212" y1="44928" x2="44973" y2="66908"/>
                        <a14:foregroundMark x1="60734" y1="87923" x2="45788" y2="56039"/>
                        <a14:foregroundMark x1="45788" y1="56039" x2="24185" y2="33092"/>
                        <a14:foregroundMark x1="24185" y1="33092" x2="18750" y2="69565"/>
                        <a14:foregroundMark x1="18750" y1="69565" x2="65082" y2="94928"/>
                        <a14:foregroundMark x1="66712" y1="41304" x2="31522" y2="43720"/>
                        <a14:foregroundMark x1="31522" y1="43720" x2="40082" y2="13043"/>
                        <a14:foregroundMark x1="40082" y1="13043" x2="59511" y2="13527"/>
                        <a14:foregroundMark x1="59511" y1="13527" x2="79348" y2="24638"/>
                        <a14:foregroundMark x1="79348" y1="24638" x2="88315" y2="53382"/>
                        <a14:foregroundMark x1="88315" y1="53382" x2="70245" y2="55072"/>
                        <a14:foregroundMark x1="70245" y1="55072" x2="48913" y2="28744"/>
                        <a14:foregroundMark x1="80163" y1="35266" x2="49592" y2="31643"/>
                        <a14:foregroundMark x1="88587" y1="55072" x2="78533" y2="27295"/>
                        <a14:foregroundMark x1="78533" y1="27295" x2="72147" y2="24638"/>
                        <a14:foregroundMark x1="88315" y1="49034" x2="73370" y2="24155"/>
                        <a14:foregroundMark x1="73370" y1="24155" x2="69837" y2="27536"/>
                        <a14:foregroundMark x1="53397" y1="11353" x2="31929" y2="20290"/>
                        <a14:foregroundMark x1="31929" y1="20290" x2="34511" y2="48551"/>
                        <a14:foregroundMark x1="53397" y1="20290" x2="39946" y2="15700"/>
                        <a14:foregroundMark x1="50951" y1="7971" x2="37908" y2="6763"/>
                        <a14:foregroundMark x1="52717" y1="7971" x2="39266" y2="5556"/>
                        <a14:foregroundMark x1="44293" y1="12560" x2="34511" y2="12560"/>
                        <a14:foregroundMark x1="30842" y1="23913" x2="29891" y2="47343"/>
                        <a14:foregroundMark x1="36141" y1="72222" x2="27853" y2="60870"/>
                        <a14:foregroundMark x1="71060" y1="78986" x2="49592" y2="74155"/>
                        <a14:foregroundMark x1="23777" y1="83092" x2="13043" y2="56280"/>
                        <a14:foregroundMark x1="18750" y1="75845" x2="13995" y2="75362"/>
                        <a14:foregroundMark x1="20380" y1="83092" x2="16712" y2="82367"/>
                        <a14:foregroundMark x1="14674" y1="64010" x2="10734" y2="63285"/>
                        <a14:foregroundMark x1="18071" y1="61594" x2="11685" y2="50242"/>
                        <a14:foregroundMark x1="13995" y1="45411" x2="22826" y2="41304"/>
                        <a14:foregroundMark x1="62908" y1="88406" x2="34375" y2="94686"/>
                        <a14:foregroundMark x1="34375" y1="94686" x2="28125" y2="78019"/>
                        <a14:foregroundMark x1="37908" y1="92754" x2="22554" y2="80918"/>
                        <a14:foregroundMark x1="59511" y1="93237" x2="44158" y2="68841"/>
                        <a14:foregroundMark x1="64130" y1="92754" x2="73777" y2="78019"/>
                        <a14:foregroundMark x1="70380" y1="82850" x2="57065" y2="66667"/>
                        <a14:foregroundMark x1="49321" y1="64251" x2="69701" y2="86715"/>
                        <a14:foregroundMark x1="87636" y1="49034" x2="76766" y2="31401"/>
                        <a14:foregroundMark x1="79484" y1="27053" x2="87636" y2="58454"/>
                        <a14:foregroundMark x1="87636" y1="58454" x2="87636" y2="58454"/>
                        <a14:foregroundMark x1="85734" y1="46860" x2="71875" y2="28019"/>
                        <a14:foregroundMark x1="79484" y1="27053" x2="86413" y2="61111"/>
                        <a14:foregroundMark x1="87228" y1="46377" x2="69701" y2="49034"/>
                        <a14:foregroundMark x1="86277" y1="47826" x2="73370" y2="44203"/>
                        <a14:foregroundMark x1="79484" y1="23671" x2="88723" y2="62077"/>
                        <a14:foregroundMark x1="86277" y1="49517" x2="69701" y2="35749"/>
                        <a14:foregroundMark x1="19158" y1="82367" x2="11413" y2="59903"/>
                      </a14:backgroundRemoval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34705">
            <a:off x="9318728" y="138229"/>
            <a:ext cx="3107674" cy="1748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CFF10D-D5B5-8847-5F42-F5170D3518A0}"/>
              </a:ext>
            </a:extLst>
          </p:cNvPr>
          <p:cNvSpPr txBox="1"/>
          <p:nvPr/>
        </p:nvSpPr>
        <p:spPr>
          <a:xfrm>
            <a:off x="345003" y="1148216"/>
            <a:ext cx="6264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bg1">
                    <a:lumMod val="50000"/>
                  </a:schemeClr>
                </a:solidFill>
                <a:latin typeface="Google Sans Flex"/>
              </a:rPr>
              <a:t>PROJECT TITLE :-</a:t>
            </a:r>
            <a:endParaRPr lang="en-IN" sz="32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104CA4-C07B-EDF0-8607-2431911B431F}"/>
              </a:ext>
            </a:extLst>
          </p:cNvPr>
          <p:cNvSpPr txBox="1"/>
          <p:nvPr/>
        </p:nvSpPr>
        <p:spPr>
          <a:xfrm>
            <a:off x="137400" y="-50416"/>
            <a:ext cx="6264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Industry-Based Projects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184E92-BA8E-80F3-F92E-CDD57B852105}"/>
              </a:ext>
            </a:extLst>
          </p:cNvPr>
          <p:cNvSpPr/>
          <p:nvPr/>
        </p:nvSpPr>
        <p:spPr>
          <a:xfrm>
            <a:off x="137400" y="611276"/>
            <a:ext cx="4550229" cy="51128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B61946C-B00A-E2DB-B2E7-817A35B21635}"/>
              </a:ext>
            </a:extLst>
          </p:cNvPr>
          <p:cNvGrpSpPr/>
          <p:nvPr/>
        </p:nvGrpSpPr>
        <p:grpSpPr>
          <a:xfrm>
            <a:off x="594384" y="1981918"/>
            <a:ext cx="10173984" cy="1985800"/>
            <a:chOff x="345003" y="2132683"/>
            <a:chExt cx="10173984" cy="19858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9C96D3-C70F-B50A-546A-4F21B063148F}"/>
                </a:ext>
              </a:extLst>
            </p:cNvPr>
            <p:cNvSpPr txBox="1"/>
            <p:nvPr/>
          </p:nvSpPr>
          <p:spPr>
            <a:xfrm>
              <a:off x="345003" y="2132683"/>
              <a:ext cx="10173984" cy="19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</a:pPr>
              <a:r>
                <a:rPr lang="en-US" sz="3200" b="1" i="0" dirty="0">
                  <a:solidFill>
                    <a:schemeClr val="accent6">
                      <a:lumMod val="75000"/>
                    </a:schemeClr>
                  </a:solidFill>
                  <a:effectLst/>
                  <a:latin typeface="Google Sans Flex"/>
                </a:rPr>
                <a:t>Smart </a:t>
              </a:r>
              <a:r>
                <a:rPr lang="en-US" sz="3200" b="1" i="0" dirty="0" err="1">
                  <a:solidFill>
                    <a:schemeClr val="accent6">
                      <a:lumMod val="75000"/>
                    </a:schemeClr>
                  </a:solidFill>
                  <a:effectLst/>
                  <a:latin typeface="Google Sans Flex"/>
                </a:rPr>
                <a:t>CarbonTrack</a:t>
              </a:r>
              <a:r>
                <a:rPr lang="en-US" sz="3200" b="1" dirty="0">
                  <a:solidFill>
                    <a:schemeClr val="accent6">
                      <a:lumMod val="75000"/>
                    </a:schemeClr>
                  </a:solidFill>
                  <a:latin typeface="Google Sans Flex"/>
                </a:rPr>
                <a:t>  </a:t>
              </a:r>
              <a:r>
                <a:rPr lang="en-US" sz="3200" b="1" i="0" dirty="0">
                  <a:solidFill>
                    <a:schemeClr val="accent6">
                      <a:lumMod val="75000"/>
                    </a:schemeClr>
                  </a:solidFill>
                  <a:effectLst/>
                  <a:latin typeface="Google Sans Flex"/>
                </a:rPr>
                <a:t>      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i="0" dirty="0">
                  <a:solidFill>
                    <a:srgbClr val="333333"/>
                  </a:solidFill>
                  <a:effectLst/>
                  <a:latin typeface="Google Sans Flex"/>
                </a:rPr>
                <a:t>Digital Monitoring and Reduction of carbon footprint for Manufacturing unit</a:t>
              </a:r>
            </a:p>
          </p:txBody>
        </p:sp>
        <p:pic>
          <p:nvPicPr>
            <p:cNvPr id="1032" name="Picture 8" descr="This may contain: the letter q is made up of two green letters, one in the shape of an o and the other in the shape of a rectangle">
              <a:extLst>
                <a:ext uri="{FF2B5EF4-FFF2-40B4-BE49-F238E27FC236}">
                  <a16:creationId xmlns:a16="http://schemas.microsoft.com/office/drawing/2014/main" id="{6A93FF37-8533-7A36-C056-DA07916413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38315" y1="37260" x2="59511" y2="41644"/>
                          <a14:foregroundMark x1="59511" y1="41644" x2="59239" y2="65753"/>
                          <a14:foregroundMark x1="59239" y1="65753" x2="39674" y2="44658"/>
                          <a14:foregroundMark x1="39674" y1="44658" x2="63179" y2="49452"/>
                          <a14:foregroundMark x1="63179" y1="49452" x2="62636" y2="74658"/>
                          <a14:foregroundMark x1="35190" y1="37260" x2="56658" y2="72740"/>
                          <a14:foregroundMark x1="31386" y1="42055" x2="55163" y2="80411"/>
                          <a14:foregroundMark x1="55163" y1="69178" x2="68342" y2="59452"/>
                          <a14:foregroundMark x1="68342" y1="59452" x2="73098" y2="37808"/>
                          <a14:foregroundMark x1="64130" y1="71507" x2="72011" y2="58356"/>
                          <a14:foregroundMark x1="72011" y1="58356" x2="73370" y2="4068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02" t="21061" r="18289" b="18583"/>
            <a:stretch>
              <a:fillRect/>
            </a:stretch>
          </p:blipFill>
          <p:spPr bwMode="auto">
            <a:xfrm rot="451591" flipH="1">
              <a:off x="3849974" y="2149121"/>
              <a:ext cx="488468" cy="546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2A29399-82AA-A0B8-C570-69627BF5B672}"/>
              </a:ext>
            </a:extLst>
          </p:cNvPr>
          <p:cNvSpPr txBox="1"/>
          <p:nvPr/>
        </p:nvSpPr>
        <p:spPr>
          <a:xfrm>
            <a:off x="1636439" y="4216645"/>
            <a:ext cx="8636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Sustainability Monitoring Tool for Manufacturing Units</a:t>
            </a:r>
            <a:endParaRPr lang="en-IN" sz="28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4" name="Picture 4" descr="This may contain: a green light bulb with an image of a plant growing out of it's head">
            <a:extLst>
              <a:ext uri="{FF2B5EF4-FFF2-40B4-BE49-F238E27FC236}">
                <a16:creationId xmlns:a16="http://schemas.microsoft.com/office/drawing/2014/main" id="{783CC5C3-3BB7-FAA4-3C21-891A37B57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258" y="4417972"/>
            <a:ext cx="2121824" cy="212182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206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48C0D6-BB69-EE18-754F-8956BC7C14EB}"/>
              </a:ext>
            </a:extLst>
          </p:cNvPr>
          <p:cNvSpPr txBox="1"/>
          <p:nvPr/>
        </p:nvSpPr>
        <p:spPr>
          <a:xfrm>
            <a:off x="4117366" y="2719"/>
            <a:ext cx="57663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200" b="1" i="0" dirty="0">
                <a:solidFill>
                  <a:srgbClr val="333333"/>
                </a:solidFill>
                <a:effectLst/>
                <a:latin typeface="Google Sans Flex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58A92-FF02-8139-B3AB-CD0CCF80FF4E}"/>
              </a:ext>
            </a:extLst>
          </p:cNvPr>
          <p:cNvSpPr/>
          <p:nvPr/>
        </p:nvSpPr>
        <p:spPr>
          <a:xfrm>
            <a:off x="0" y="6539796"/>
            <a:ext cx="12192000" cy="369332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6" descr="Climate change: The push to reduce IT's carbon footprint | InfoWorld">
            <a:extLst>
              <a:ext uri="{FF2B5EF4-FFF2-40B4-BE49-F238E27FC236}">
                <a16:creationId xmlns:a16="http://schemas.microsoft.com/office/drawing/2014/main" id="{17EBAA77-B405-F34F-668E-D133078021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8" r="5357"/>
          <a:stretch>
            <a:fillRect/>
          </a:stretch>
        </p:blipFill>
        <p:spPr bwMode="auto">
          <a:xfrm>
            <a:off x="7880800" y="1536245"/>
            <a:ext cx="4005874" cy="31052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4CAB4B4-3425-51CB-8F14-4EBF6EB65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582" y="531406"/>
            <a:ext cx="720902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Manufacturing industries consume large amounts of energy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Carbon emissions are often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tracked monthly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calculations are: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         - Time-consuming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         - Error-prone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understanding: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- Energy efficiency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- Carbon intensity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- Renewable energy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1A7E9B-DBBE-781E-6224-1E12DFE05657}"/>
              </a:ext>
            </a:extLst>
          </p:cNvPr>
          <p:cNvSpPr txBox="1"/>
          <p:nvPr/>
        </p:nvSpPr>
        <p:spPr>
          <a:xfrm>
            <a:off x="543836" y="5114926"/>
            <a:ext cx="8439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/>
              <a:t>Industries lack a simple, structured system to monitor carbon footprint regularly and make data-driven sustainability decisions</a:t>
            </a:r>
            <a:r>
              <a:rPr lang="en-US" b="1" i="1" dirty="0"/>
              <a:t>.</a:t>
            </a:r>
            <a:endParaRPr lang="en-IN" b="1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EFD508-1FDF-6D8A-4BD4-826F9E7F3B3A}"/>
              </a:ext>
            </a:extLst>
          </p:cNvPr>
          <p:cNvSpPr/>
          <p:nvPr/>
        </p:nvSpPr>
        <p:spPr>
          <a:xfrm>
            <a:off x="3653033" y="547246"/>
            <a:ext cx="4550229" cy="51128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" name="Picture 8" descr="This may contain: the letter q is made up of two green letters, one in the shape of an o and the other in the shape of a rectangle">
            <a:extLst>
              <a:ext uri="{FF2B5EF4-FFF2-40B4-BE49-F238E27FC236}">
                <a16:creationId xmlns:a16="http://schemas.microsoft.com/office/drawing/2014/main" id="{71DE968D-67AF-8EB0-35EC-AD84D4B17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315" y1="37260" x2="59511" y2="41644"/>
                        <a14:foregroundMark x1="59511" y1="41644" x2="59239" y2="65753"/>
                        <a14:foregroundMark x1="59239" y1="65753" x2="39674" y2="44658"/>
                        <a14:foregroundMark x1="39674" y1="44658" x2="63179" y2="49452"/>
                        <a14:foregroundMark x1="63179" y1="49452" x2="62636" y2="74658"/>
                        <a14:foregroundMark x1="35190" y1="37260" x2="56658" y2="72740"/>
                        <a14:foregroundMark x1="31386" y1="42055" x2="55163" y2="80411"/>
                        <a14:foregroundMark x1="55163" y1="69178" x2="68342" y2="59452"/>
                        <a14:foregroundMark x1="68342" y1="59452" x2="73098" y2="37808"/>
                        <a14:foregroundMark x1="64130" y1="71507" x2="72011" y2="58356"/>
                        <a14:foregroundMark x1="72011" y1="58356" x2="73370" y2="406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21061" r="18289" b="18583"/>
          <a:stretch>
            <a:fillRect/>
          </a:stretch>
        </p:blipFill>
        <p:spPr bwMode="auto">
          <a:xfrm rot="451591" flipH="1">
            <a:off x="7596257" y="-26848"/>
            <a:ext cx="488468" cy="5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434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6245501-6B4C-049B-0DAF-EB8B40717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657" y="1679315"/>
            <a:ext cx="4595870" cy="23985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2588E2-A160-9D8E-1C9D-EF04CD567AE5}"/>
              </a:ext>
            </a:extLst>
          </p:cNvPr>
          <p:cNvSpPr txBox="1"/>
          <p:nvPr/>
        </p:nvSpPr>
        <p:spPr>
          <a:xfrm>
            <a:off x="4474029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Project Objective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5FBFA6-81CB-EC16-4A54-B86C84CF0D5C}"/>
              </a:ext>
            </a:extLst>
          </p:cNvPr>
          <p:cNvSpPr/>
          <p:nvPr/>
        </p:nvSpPr>
        <p:spPr>
          <a:xfrm>
            <a:off x="3653033" y="547246"/>
            <a:ext cx="4550229" cy="51128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08ACA6-2D00-A8B0-1F55-2B02F8348464}"/>
              </a:ext>
            </a:extLst>
          </p:cNvPr>
          <p:cNvSpPr/>
          <p:nvPr/>
        </p:nvSpPr>
        <p:spPr>
          <a:xfrm>
            <a:off x="0" y="6539796"/>
            <a:ext cx="12192000" cy="369332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45B0CD-9C19-A93F-7663-02D24484928C}"/>
              </a:ext>
            </a:extLst>
          </p:cNvPr>
          <p:cNvSpPr txBox="1"/>
          <p:nvPr/>
        </p:nvSpPr>
        <p:spPr>
          <a:xfrm>
            <a:off x="446314" y="1132021"/>
            <a:ext cx="7032172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digitally monitor </a:t>
            </a:r>
            <a:r>
              <a:rPr lang="en-US" sz="2000" b="1" dirty="0"/>
              <a:t>monthly carbon footprint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calculate </a:t>
            </a:r>
            <a:r>
              <a:rPr lang="en-US" sz="2000" b="1" dirty="0"/>
              <a:t>energy and carbon KPIs automatically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help industries track: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Renewable energy share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Green fuel usage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To support </a:t>
            </a:r>
            <a:r>
              <a:rPr lang="en-US" sz="2000" b="1" dirty="0"/>
              <a:t>sustainability and compliance goals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CCA8F-07BF-9291-F411-C5699A4BFC81}"/>
              </a:ext>
            </a:extLst>
          </p:cNvPr>
          <p:cNvSpPr txBox="1"/>
          <p:nvPr/>
        </p:nvSpPr>
        <p:spPr>
          <a:xfrm>
            <a:off x="446314" y="4480285"/>
            <a:ext cx="8338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/>
              <a:t>The aim is not just data entry, but meaningful analysis using KPIs</a:t>
            </a:r>
            <a:r>
              <a:rPr lang="en-US" sz="2000" dirty="0"/>
              <a:t>.</a:t>
            </a:r>
            <a:endParaRPr lang="en-IN" sz="2000" dirty="0"/>
          </a:p>
        </p:txBody>
      </p:sp>
      <p:pic>
        <p:nvPicPr>
          <p:cNvPr id="14" name="Picture 8" descr="This may contain: the letter q is made up of two green letters, one in the shape of an o and the other in the shape of a rectangle">
            <a:extLst>
              <a:ext uri="{FF2B5EF4-FFF2-40B4-BE49-F238E27FC236}">
                <a16:creationId xmlns:a16="http://schemas.microsoft.com/office/drawing/2014/main" id="{C8A10E2D-35F7-D600-FFA3-55FEE8052E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315" y1="37260" x2="59511" y2="41644"/>
                        <a14:foregroundMark x1="59511" y1="41644" x2="59239" y2="65753"/>
                        <a14:foregroundMark x1="59239" y1="65753" x2="39674" y2="44658"/>
                        <a14:foregroundMark x1="39674" y1="44658" x2="63179" y2="49452"/>
                        <a14:foregroundMark x1="63179" y1="49452" x2="62636" y2="74658"/>
                        <a14:foregroundMark x1="35190" y1="37260" x2="56658" y2="72740"/>
                        <a14:foregroundMark x1="31386" y1="42055" x2="55163" y2="80411"/>
                        <a14:foregroundMark x1="55163" y1="69178" x2="68342" y2="59452"/>
                        <a14:foregroundMark x1="68342" y1="59452" x2="73098" y2="37808"/>
                        <a14:foregroundMark x1="64130" y1="71507" x2="72011" y2="58356"/>
                        <a14:foregroundMark x1="72011" y1="58356" x2="73370" y2="406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21061" r="18289" b="18583"/>
          <a:stretch>
            <a:fillRect/>
          </a:stretch>
        </p:blipFill>
        <p:spPr bwMode="auto">
          <a:xfrm rot="451591" flipH="1">
            <a:off x="7555700" y="29637"/>
            <a:ext cx="488468" cy="5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4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eft Bracket 19">
            <a:extLst>
              <a:ext uri="{FF2B5EF4-FFF2-40B4-BE49-F238E27FC236}">
                <a16:creationId xmlns:a16="http://schemas.microsoft.com/office/drawing/2014/main" id="{E6CCEE16-9693-D0D5-E50D-7ED868AB190C}"/>
              </a:ext>
            </a:extLst>
          </p:cNvPr>
          <p:cNvSpPr/>
          <p:nvPr/>
        </p:nvSpPr>
        <p:spPr>
          <a:xfrm>
            <a:off x="6110532" y="3006757"/>
            <a:ext cx="449359" cy="1278691"/>
          </a:xfrm>
          <a:prstGeom prst="leftBracket">
            <a:avLst/>
          </a:prstGeom>
          <a:ln w="28575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313687-295C-F204-C7E3-4073E0354F8D}"/>
              </a:ext>
            </a:extLst>
          </p:cNvPr>
          <p:cNvSpPr/>
          <p:nvPr/>
        </p:nvSpPr>
        <p:spPr>
          <a:xfrm rot="5400000">
            <a:off x="5439347" y="1611438"/>
            <a:ext cx="707885" cy="200794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nity" panose="020B0505030303020204" pitchFamily="34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5695B-887D-E495-DAB2-442270030A88}"/>
              </a:ext>
            </a:extLst>
          </p:cNvPr>
          <p:cNvSpPr/>
          <p:nvPr/>
        </p:nvSpPr>
        <p:spPr>
          <a:xfrm>
            <a:off x="0" y="6539796"/>
            <a:ext cx="12192000" cy="369332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607D1-BD03-7408-4E58-F83F5999F3CD}"/>
              </a:ext>
            </a:extLst>
          </p:cNvPr>
          <p:cNvSpPr txBox="1"/>
          <p:nvPr/>
        </p:nvSpPr>
        <p:spPr>
          <a:xfrm>
            <a:off x="4251747" y="-4699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Monthly Input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04B08-15BF-AEDA-9639-B1F74267C4EE}"/>
              </a:ext>
            </a:extLst>
          </p:cNvPr>
          <p:cNvSpPr txBox="1"/>
          <p:nvPr/>
        </p:nvSpPr>
        <p:spPr>
          <a:xfrm>
            <a:off x="228436" y="1064213"/>
            <a:ext cx="609600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Inputs entered by plant: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Electricity consumption (kWh)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Fuel consumption (Diesel / Coal / Gas)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Production quantity (Units / Tons)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7ADFA-7276-6728-E8C6-38A2960D62D5}"/>
              </a:ext>
            </a:extLst>
          </p:cNvPr>
          <p:cNvSpPr txBox="1"/>
          <p:nvPr/>
        </p:nvSpPr>
        <p:spPr>
          <a:xfrm>
            <a:off x="228436" y="3400342"/>
            <a:ext cx="51489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These are basic values that industries already have, so no extra sensors are required</a:t>
            </a:r>
            <a:endParaRPr lang="en-IN" sz="2000" i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D37521-72B7-CD68-6438-8525AB2CB93F}"/>
              </a:ext>
            </a:extLst>
          </p:cNvPr>
          <p:cNvSpPr/>
          <p:nvPr/>
        </p:nvSpPr>
        <p:spPr>
          <a:xfrm>
            <a:off x="3653033" y="547246"/>
            <a:ext cx="4550229" cy="51128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39DF2E-E1A0-33C1-8DF2-ACC87C108B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20" b="28524"/>
          <a:stretch>
            <a:fillRect/>
          </a:stretch>
        </p:blipFill>
        <p:spPr>
          <a:xfrm>
            <a:off x="6874019" y="796664"/>
            <a:ext cx="5273419" cy="5264671"/>
          </a:xfrm>
          <a:prstGeom prst="rect">
            <a:avLst/>
          </a:prstGeom>
        </p:spPr>
      </p:pic>
      <p:sp>
        <p:nvSpPr>
          <p:cNvPr id="15" name="Left Bracket 14">
            <a:extLst>
              <a:ext uri="{FF2B5EF4-FFF2-40B4-BE49-F238E27FC236}">
                <a16:creationId xmlns:a16="http://schemas.microsoft.com/office/drawing/2014/main" id="{7F96D0EC-A09D-EADE-B7C4-49E936A04B31}"/>
              </a:ext>
            </a:extLst>
          </p:cNvPr>
          <p:cNvSpPr/>
          <p:nvPr/>
        </p:nvSpPr>
        <p:spPr>
          <a:xfrm rot="10800000" flipH="1">
            <a:off x="6110532" y="1018058"/>
            <a:ext cx="449359" cy="1219258"/>
          </a:xfrm>
          <a:prstGeom prst="leftBracket">
            <a:avLst/>
          </a:prstGeom>
          <a:ln w="28575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CA7389-A82D-C00A-39B6-6BE9DFE69DFE}"/>
              </a:ext>
            </a:extLst>
          </p:cNvPr>
          <p:cNvSpPr txBox="1"/>
          <p:nvPr/>
        </p:nvSpPr>
        <p:spPr>
          <a:xfrm>
            <a:off x="4908899" y="2298871"/>
            <a:ext cx="1764044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Data Entries 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done by plant</a:t>
            </a:r>
          </a:p>
        </p:txBody>
      </p:sp>
      <p:pic>
        <p:nvPicPr>
          <p:cNvPr id="23" name="Picture 8" descr="This may contain: the letter q is made up of two green letters, one in the shape of an o and the other in the shape of a rectangle">
            <a:extLst>
              <a:ext uri="{FF2B5EF4-FFF2-40B4-BE49-F238E27FC236}">
                <a16:creationId xmlns:a16="http://schemas.microsoft.com/office/drawing/2014/main" id="{E0E69E62-3160-70C0-DD45-A03A5DD078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315" y1="37260" x2="59511" y2="41644"/>
                        <a14:foregroundMark x1="59511" y1="41644" x2="59239" y2="65753"/>
                        <a14:foregroundMark x1="59239" y1="65753" x2="39674" y2="44658"/>
                        <a14:foregroundMark x1="39674" y1="44658" x2="63179" y2="49452"/>
                        <a14:foregroundMark x1="63179" y1="49452" x2="62636" y2="74658"/>
                        <a14:foregroundMark x1="35190" y1="37260" x2="56658" y2="72740"/>
                        <a14:foregroundMark x1="31386" y1="42055" x2="55163" y2="80411"/>
                        <a14:foregroundMark x1="55163" y1="69178" x2="68342" y2="59452"/>
                        <a14:foregroundMark x1="68342" y1="59452" x2="73098" y2="37808"/>
                        <a14:foregroundMark x1="64130" y1="71507" x2="72011" y2="58356"/>
                        <a14:foregroundMark x1="72011" y1="58356" x2="73370" y2="406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21061" r="18289" b="18583"/>
          <a:stretch>
            <a:fillRect/>
          </a:stretch>
        </p:blipFill>
        <p:spPr bwMode="auto">
          <a:xfrm rot="451591" flipH="1">
            <a:off x="7959028" y="-17353"/>
            <a:ext cx="488468" cy="5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333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8E249E-039B-B873-B1C5-99097C75D7F3}"/>
              </a:ext>
            </a:extLst>
          </p:cNvPr>
          <p:cNvSpPr/>
          <p:nvPr/>
        </p:nvSpPr>
        <p:spPr>
          <a:xfrm>
            <a:off x="0" y="6539796"/>
            <a:ext cx="12192000" cy="369332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D8F2A-F383-9983-1A31-3E3A1E0F9051}"/>
              </a:ext>
            </a:extLst>
          </p:cNvPr>
          <p:cNvSpPr/>
          <p:nvPr/>
        </p:nvSpPr>
        <p:spPr>
          <a:xfrm>
            <a:off x="3653033" y="547246"/>
            <a:ext cx="4550229" cy="51128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828B6-73B7-325B-61EB-D6940B740BF5}"/>
              </a:ext>
            </a:extLst>
          </p:cNvPr>
          <p:cNvSpPr txBox="1"/>
          <p:nvPr/>
        </p:nvSpPr>
        <p:spPr>
          <a:xfrm>
            <a:off x="3287485" y="-900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Automatically Calculated KPIs</a:t>
            </a:r>
          </a:p>
        </p:txBody>
      </p:sp>
      <p:pic>
        <p:nvPicPr>
          <p:cNvPr id="8" name="Picture 8" descr="This may contain: the letter q is made up of two green letters, one in the shape of an o and the other in the shape of a rectangle">
            <a:extLst>
              <a:ext uri="{FF2B5EF4-FFF2-40B4-BE49-F238E27FC236}">
                <a16:creationId xmlns:a16="http://schemas.microsoft.com/office/drawing/2014/main" id="{D162AA49-BA9D-345D-347C-4189536DD1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8315" y1="37260" x2="59511" y2="41644"/>
                        <a14:foregroundMark x1="59511" y1="41644" x2="59239" y2="65753"/>
                        <a14:foregroundMark x1="59239" y1="65753" x2="39674" y2="44658"/>
                        <a14:foregroundMark x1="39674" y1="44658" x2="63179" y2="49452"/>
                        <a14:foregroundMark x1="63179" y1="49452" x2="62636" y2="74658"/>
                        <a14:foregroundMark x1="35190" y1="37260" x2="56658" y2="72740"/>
                        <a14:foregroundMark x1="31386" y1="42055" x2="55163" y2="80411"/>
                        <a14:foregroundMark x1="55163" y1="69178" x2="68342" y2="59452"/>
                        <a14:foregroundMark x1="68342" y1="59452" x2="73098" y2="37808"/>
                        <a14:foregroundMark x1="64130" y1="71507" x2="72011" y2="58356"/>
                        <a14:foregroundMark x1="72011" y1="58356" x2="73370" y2="406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302" t="21061" r="18289" b="18583"/>
          <a:stretch>
            <a:fillRect/>
          </a:stretch>
        </p:blipFill>
        <p:spPr bwMode="auto">
          <a:xfrm rot="451591" flipH="1">
            <a:off x="8549139" y="29638"/>
            <a:ext cx="488468" cy="54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B585D7-7969-B6B3-8177-072863DD1951}"/>
              </a:ext>
            </a:extLst>
          </p:cNvPr>
          <p:cNvSpPr txBox="1"/>
          <p:nvPr/>
        </p:nvSpPr>
        <p:spPr>
          <a:xfrm>
            <a:off x="457201" y="954068"/>
            <a:ext cx="609600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KPIs calculated:</a:t>
            </a:r>
          </a:p>
          <a:p>
            <a:pPr>
              <a:lnSpc>
                <a:spcPct val="150000"/>
              </a:lnSpc>
              <a:buNone/>
            </a:pPr>
            <a:endParaRPr lang="en-I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Total energy consumption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Carbon emissions (CO₂ equivalent)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Carbon intensity</a:t>
            </a:r>
            <a:br>
              <a:rPr lang="en-IN" sz="2000" dirty="0"/>
            </a:br>
            <a:r>
              <a:rPr lang="en-IN" sz="2000" i="1" dirty="0"/>
              <a:t>(Emissions per unit of production)</a:t>
            </a:r>
            <a:endParaRPr lang="en-I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Renewable energy share (%)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Green fuel percentage (%)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C745C-734E-1889-52FA-2F1500634234}"/>
              </a:ext>
            </a:extLst>
          </p:cNvPr>
          <p:cNvSpPr txBox="1"/>
          <p:nvPr/>
        </p:nvSpPr>
        <p:spPr>
          <a:xfrm>
            <a:off x="833632" y="5070312"/>
            <a:ext cx="7633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The system converts raw data into useful performance indicators automatically</a:t>
            </a:r>
            <a:endParaRPr lang="en-IN" b="1" i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1790E1-4969-DDF5-B704-D73F46C1E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1" y="1492294"/>
            <a:ext cx="5335047" cy="32478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8516594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0B33D0-7C38-840C-FBD7-4731BF36C616}"/>
              </a:ext>
            </a:extLst>
          </p:cNvPr>
          <p:cNvSpPr/>
          <p:nvPr/>
        </p:nvSpPr>
        <p:spPr>
          <a:xfrm>
            <a:off x="3653033" y="547246"/>
            <a:ext cx="4550229" cy="51128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4F176-55B4-B449-4EF2-DE46C07A0C9A}"/>
              </a:ext>
            </a:extLst>
          </p:cNvPr>
          <p:cNvSpPr/>
          <p:nvPr/>
        </p:nvSpPr>
        <p:spPr>
          <a:xfrm>
            <a:off x="0" y="6539796"/>
            <a:ext cx="12192000" cy="369332"/>
          </a:xfrm>
          <a:prstGeom prst="rect">
            <a:avLst/>
          </a:prstGeom>
          <a:gradFill>
            <a:gsLst>
              <a:gs pos="0">
                <a:srgbClr val="F40009"/>
              </a:gs>
              <a:gs pos="50000">
                <a:srgbClr val="F79900"/>
              </a:gs>
              <a:gs pos="100000">
                <a:srgbClr val="6AC9C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555DB-855C-63E3-0C65-0EC5A0356D07}"/>
              </a:ext>
            </a:extLst>
          </p:cNvPr>
          <p:cNvSpPr txBox="1"/>
          <p:nvPr/>
        </p:nvSpPr>
        <p:spPr>
          <a:xfrm>
            <a:off x="3320143" y="-3752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Working of Smart </a:t>
            </a:r>
            <a:r>
              <a:rPr lang="en-IN" sz="3200" b="1" dirty="0" err="1"/>
              <a:t>CarbonTrack</a:t>
            </a:r>
            <a:endParaRPr lang="en-IN" sz="3200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C1B2872-6A40-EC4E-A5D1-9285E027B98F}"/>
              </a:ext>
            </a:extLst>
          </p:cNvPr>
          <p:cNvGrpSpPr/>
          <p:nvPr/>
        </p:nvGrpSpPr>
        <p:grpSpPr>
          <a:xfrm>
            <a:off x="0" y="1132021"/>
            <a:ext cx="6096000" cy="4524315"/>
            <a:chOff x="0" y="1012278"/>
            <a:chExt cx="6096000" cy="45243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AE4908-C3FC-5C5A-7EE3-1522292C0F79}"/>
                </a:ext>
              </a:extLst>
            </p:cNvPr>
            <p:cNvSpPr txBox="1"/>
            <p:nvPr/>
          </p:nvSpPr>
          <p:spPr>
            <a:xfrm>
              <a:off x="0" y="1012278"/>
              <a:ext cx="6096000" cy="4524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3200" dirty="0"/>
                <a:t>Monthly Data Input</a:t>
              </a:r>
            </a:p>
            <a:p>
              <a:pPr algn="ctr"/>
              <a:r>
                <a:rPr lang="en-IN" sz="3200" dirty="0"/>
                <a:t>        </a:t>
              </a:r>
            </a:p>
            <a:p>
              <a:pPr algn="ctr"/>
              <a:r>
                <a:rPr lang="en-IN" sz="3200" dirty="0"/>
                <a:t>Emission Factors Applied</a:t>
              </a:r>
            </a:p>
            <a:p>
              <a:pPr algn="ctr"/>
              <a:r>
                <a:rPr lang="en-IN" sz="3200" dirty="0"/>
                <a:t>        </a:t>
              </a:r>
            </a:p>
            <a:p>
              <a:pPr algn="ctr"/>
              <a:r>
                <a:rPr lang="en-IN" sz="3200" dirty="0"/>
                <a:t>Energy &amp; Carbon Calculations</a:t>
              </a:r>
            </a:p>
            <a:p>
              <a:pPr algn="ctr"/>
              <a:r>
                <a:rPr lang="en-IN" sz="3200" dirty="0"/>
                <a:t>        </a:t>
              </a:r>
            </a:p>
            <a:p>
              <a:pPr algn="ctr"/>
              <a:r>
                <a:rPr lang="en-IN" sz="3200" dirty="0"/>
                <a:t>KPIs Generated</a:t>
              </a:r>
            </a:p>
            <a:p>
              <a:pPr algn="ctr"/>
              <a:r>
                <a:rPr lang="en-IN" sz="3200" dirty="0"/>
                <a:t>        </a:t>
              </a:r>
            </a:p>
            <a:p>
              <a:pPr algn="ctr"/>
              <a:r>
                <a:rPr lang="en-IN" sz="3200" dirty="0"/>
                <a:t>Sustainability Insights</a:t>
              </a: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85329146-491C-B2BA-5E10-5ADD59C7D786}"/>
                </a:ext>
              </a:extLst>
            </p:cNvPr>
            <p:cNvSpPr/>
            <p:nvPr/>
          </p:nvSpPr>
          <p:spPr>
            <a:xfrm rot="5400000">
              <a:off x="2662737" y="1653350"/>
              <a:ext cx="371179" cy="377575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2602F3F-82F0-8E41-116E-998962FFB63F}"/>
                </a:ext>
              </a:extLst>
            </p:cNvPr>
            <p:cNvSpPr/>
            <p:nvPr/>
          </p:nvSpPr>
          <p:spPr>
            <a:xfrm rot="5400000">
              <a:off x="2662736" y="2656553"/>
              <a:ext cx="371179" cy="377575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0D97B49E-57BE-B8D3-3CF2-D5F365FB0742}"/>
                </a:ext>
              </a:extLst>
            </p:cNvPr>
            <p:cNvSpPr/>
            <p:nvPr/>
          </p:nvSpPr>
          <p:spPr>
            <a:xfrm rot="5400000">
              <a:off x="2662735" y="3598253"/>
              <a:ext cx="371179" cy="377575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FF38600D-42E7-5BA3-C7B9-A400066969C1}"/>
                </a:ext>
              </a:extLst>
            </p:cNvPr>
            <p:cNvSpPr/>
            <p:nvPr/>
          </p:nvSpPr>
          <p:spPr>
            <a:xfrm rot="5400000">
              <a:off x="2662734" y="4582669"/>
              <a:ext cx="371179" cy="377575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Left Bracket 11">
            <a:extLst>
              <a:ext uri="{FF2B5EF4-FFF2-40B4-BE49-F238E27FC236}">
                <a16:creationId xmlns:a16="http://schemas.microsoft.com/office/drawing/2014/main" id="{1F40F35C-FFA7-2159-0BD6-0350B6EA8808}"/>
              </a:ext>
            </a:extLst>
          </p:cNvPr>
          <p:cNvSpPr/>
          <p:nvPr/>
        </p:nvSpPr>
        <p:spPr>
          <a:xfrm flipH="1">
            <a:off x="5486401" y="1302892"/>
            <a:ext cx="740228" cy="4353444"/>
          </a:xfrm>
          <a:prstGeom prst="leftBracket">
            <a:avLst/>
          </a:prstGeom>
          <a:ln w="28575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5E990-844E-0F22-1846-FBCA96208694}"/>
              </a:ext>
            </a:extLst>
          </p:cNvPr>
          <p:cNvSpPr txBox="1"/>
          <p:nvPr/>
        </p:nvSpPr>
        <p:spPr>
          <a:xfrm>
            <a:off x="5392163" y="2328416"/>
            <a:ext cx="6288209" cy="1446550"/>
          </a:xfrm>
          <a:prstGeom prst="rect">
            <a:avLst/>
          </a:prstGeom>
          <a:noFill/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perspectiveLeft"/>
            <a:lightRig rig="threePt" dir="t"/>
          </a:scene3d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solidFill>
                  <a:schemeClr val="accent6">
                    <a:lumMod val="75000"/>
                  </a:schemeClr>
                </a:solidFill>
              </a:rPr>
              <a:t>Flow of</a:t>
            </a:r>
          </a:p>
          <a:p>
            <a:pPr algn="ctr"/>
            <a:r>
              <a:rPr lang="en-IN" sz="4400" dirty="0">
                <a:solidFill>
                  <a:schemeClr val="accent6">
                    <a:lumMod val="75000"/>
                  </a:schemeClr>
                </a:solidFill>
              </a:rPr>
              <a:t>Smart </a:t>
            </a:r>
            <a:r>
              <a:rPr lang="en-IN" sz="4400" dirty="0" err="1">
                <a:solidFill>
                  <a:schemeClr val="accent6">
                    <a:lumMod val="75000"/>
                  </a:schemeClr>
                </a:solidFill>
              </a:rPr>
              <a:t>CarbonTrack</a:t>
            </a:r>
            <a:endParaRPr lang="en-IN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653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258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Google Sans Flex</vt:lpstr>
      <vt:lpstr>Unity</vt:lpstr>
      <vt:lpstr>Arial</vt:lpstr>
      <vt:lpstr>Calibri</vt:lpstr>
      <vt:lpstr>Calibri Light</vt:lpstr>
      <vt:lpstr>Univers Condensed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Henry</dc:creator>
  <cp:lastModifiedBy>Vinay Henry</cp:lastModifiedBy>
  <cp:revision>1</cp:revision>
  <dcterms:created xsi:type="dcterms:W3CDTF">2026-01-18T08:01:02Z</dcterms:created>
  <dcterms:modified xsi:type="dcterms:W3CDTF">2026-01-18T08:04:13Z</dcterms:modified>
</cp:coreProperties>
</file>